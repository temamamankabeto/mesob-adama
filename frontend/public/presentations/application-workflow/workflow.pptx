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2" d="100"/>
          <a:sy n="92" d="100"/>
        </p:scale>
        <p:origin x="-307" y="-3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B3A785-F9F5-47BD-83B1-4C74E7BD7B95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9E8A4C-C8CF-43A5-AC60-9745E1F4D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470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audience. Introduce ADAMA MESOB as a municipal eService platform that digitizes citizen service delivery. Mention that this deck summarizes completed modules and the end-to-end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system unifies how citizens request services and how officers process them, replacing manual paperwork with a digital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role. Emphasize hierarchical authority and scoped access by location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that defaults prevent privilege abuse: officers created at lower levels must be approved before they can 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activation paths depending on who created the officer. Bulk operations and full audit history are supported.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Services are the catalog the citizen sees. Each can be scoped to a level and optionally require back-office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Forms are built by admins without code. The citizen experience is rendered dynamically from the stored form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single window concept can carry different titles at city, subcity, and woreda levels — useful for branding and clarity.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City Admin orchestrates which service appears under which window, with level rules preventing cross-level mistakes.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Officers are anchored to specific windows so workload routing is predictable.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the routing logic of the system is finalized. Mismatched assignments are blocked.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Citizens browse services, choose location, and apply online. Tracking number is generated for every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single, predictable journey from selection to officer queue, with a tracking number issued for transparency.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distinct paths depending on whether the service needs back-office review. Sharing is always scoped to the same window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 officers act on escalated or forwarded work only. They can approve, reject, share laterally, or escalate to a manager.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Sharing is always traceable — every transfer captures who, where, why, and what was attached.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holistic view of how a request flows through the system from intake to closure with full traceability.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is enforced both in the UI and on the server. No one sees data outside their authorized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Auditability is core. Every meaningful action is captured for compliance and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Snapshot of everything that is complete and ready. The next phase focuses on reporting and production rollout.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Translate the engineering work into outcomes officials care about: speed, accountability, transparency, and analytics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inviting questions and confirming next steps: final testing, reporting dashboard, and production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8189" y="0"/>
            <a:ext cx="12188952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686800" y="-1828800"/>
            <a:ext cx="7315200" cy="73152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572000"/>
            <a:ext cx="5486400" cy="5486400"/>
          </a:xfrm>
          <a:prstGeom prst="ellipse">
            <a:avLst/>
          </a:prstGeom>
          <a:solidFill>
            <a:srgbClr val="0A1E36"/>
          </a:solidFill>
          <a:ln w="12700">
            <a:solidFill>
              <a:srgbClr val="0A1E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137160" cy="14630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37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8F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CITY ADMINISTRATION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eService System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Core Modules, Role-Based Workflow,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End-to-End Application Processing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5486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C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Adama City Administration</a:t>
            </a:r>
            <a:endParaRPr lang="en-US" sz="1400" dirty="0"/>
          </a:p>
        </p:txBody>
      </p:sp>
      <p:sp>
        <p:nvSpPr>
          <p:cNvPr id="11" name="Shape 9">
            <a:hlinkClick r:id="rId3"/>
          </p:cNvPr>
          <p:cNvSpPr/>
          <p:nvPr/>
        </p:nvSpPr>
        <p:spPr>
          <a:xfrm>
            <a:off x="9692640" y="594360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2" name="Text 10">
            <a:hlinkClick r:id="rId3"/>
          </p:cNvPr>
          <p:cNvSpPr/>
          <p:nvPr/>
        </p:nvSpPr>
        <p:spPr>
          <a:xfrm>
            <a:off x="9692640" y="5943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Open Dashboard ›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88952" cy="457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  •  eService System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0" y="45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City Administration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INTRODUCTION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 smtClean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 </a:t>
            </a:r>
            <a:r>
              <a:rPr lang="en-US" sz="16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eService automation platform that digitizes how citizens request, and how officers process, public services in Adama.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651760"/>
            <a:ext cx="73152" cy="9144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72491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Role Management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" y="303580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control across city levels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9000" y="265176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2651760"/>
            <a:ext cx="73152" cy="9144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3592" y="272491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Configuration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93592" y="303580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Define, price, and publish services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265176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2651760"/>
            <a:ext cx="73152" cy="9144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272491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Form Builder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73952" y="303580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forms without code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265176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89720" y="2651760"/>
            <a:ext cx="73152" cy="9144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54312" y="272491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Management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54312" y="303580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service windows by level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74904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749040"/>
            <a:ext cx="73152" cy="9144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382219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&amp; Service Assignment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3232" y="413308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work to the right officer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29000" y="374904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29000" y="3749040"/>
            <a:ext cx="73152" cy="9144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93592" y="382219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Service Application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593592" y="413308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apply online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374904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9360" y="3749040"/>
            <a:ext cx="73152" cy="9144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73952" y="382219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Workflow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73952" y="413308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&amp; Back officer processing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189720" y="374904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89720" y="3749040"/>
            <a:ext cx="73152" cy="9144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54312" y="382219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Tracking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354312" y="413308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applications anytime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a reports-ready data structure powering accountability and analytics.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44" name="Text 41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 eService System — Completed Modules &amp; End-to-End Workflow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0058400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  <p:sp>
        <p:nvSpPr>
          <p:cNvPr id="46" name="Shape 43">
            <a:hlinkClick r:id="rId3" tooltip="Open localhost:3000"/>
          </p:cNvPr>
          <p:cNvSpPr/>
          <p:nvPr/>
        </p:nvSpPr>
        <p:spPr>
          <a:xfrm>
            <a:off x="10058400" y="617220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7" name="Text 44">
            <a:hlinkClick r:id="rId3" tooltip="Open localhost:3000"/>
          </p:cNvPr>
          <p:cNvSpPr/>
          <p:nvPr/>
        </p:nvSpPr>
        <p:spPr>
          <a:xfrm>
            <a:off x="10058400" y="6172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localhost:3000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Open Dashboard ›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88952" cy="457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  •  eService System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0" y="45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City Administration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GOVERNANCE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Roles Implemented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4754880" cy="45720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Super Admin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0" y="201168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20116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4754880" cy="457200"/>
          </a:xfrm>
          <a:prstGeom prst="roundRect">
            <a:avLst>
              <a:gd name="adj" fmla="val 1000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423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City Admin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0" y="251460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25146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4754880" cy="457200"/>
          </a:xfrm>
          <a:prstGeom prst="roundRect">
            <a:avLst>
              <a:gd name="adj" fmla="val 10000"/>
            </a:avLst>
          </a:prstGeom>
          <a:solidFill>
            <a:srgbClr val="1E5AAB"/>
          </a:solidFill>
          <a:ln w="12700">
            <a:solidFill>
              <a:srgbClr val="1E5A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926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Subcity Admin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0" y="301752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3017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429000"/>
            <a:ext cx="4754880" cy="457200"/>
          </a:xfrm>
          <a:prstGeom prst="roundRect">
            <a:avLst>
              <a:gd name="adj" fmla="val 1000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429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Woreda Admin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0" y="352044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35204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931920"/>
            <a:ext cx="4754880" cy="457200"/>
          </a:xfrm>
          <a:prstGeom prst="roundRect">
            <a:avLst>
              <a:gd name="adj" fmla="val 10000"/>
            </a:avLst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931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Manager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0" y="402336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4023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4434840"/>
            <a:ext cx="4754880" cy="457200"/>
          </a:xfrm>
          <a:prstGeom prst="roundRect">
            <a:avLst>
              <a:gd name="adj" fmla="val 10000"/>
            </a:avLst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434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Front Officer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0" y="452628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0" y="45262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4937760"/>
            <a:ext cx="4754880" cy="457200"/>
          </a:xfrm>
          <a:prstGeom prst="roundRect">
            <a:avLst>
              <a:gd name="adj" fmla="val 10000"/>
            </a:avLst>
          </a:prstGeom>
          <a:solidFill>
            <a:srgbClr val="039BE5"/>
          </a:solidFill>
          <a:ln w="12700">
            <a:solidFill>
              <a:srgbClr val="039B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4937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Back Officer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86400" y="502920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0" y="50292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5440680"/>
            <a:ext cx="4754880" cy="457200"/>
          </a:xfrm>
          <a:prstGeom prst="roundRect">
            <a:avLst>
              <a:gd name="adj" fmla="val 10000"/>
            </a:avLst>
          </a:prstGeom>
          <a:solidFill>
            <a:srgbClr val="5B6B7B"/>
          </a:solidFill>
          <a:ln w="12700">
            <a:solidFill>
              <a:srgbClr val="5B6B7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5440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Customer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486400" y="553212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0" y="55321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772400" y="1920240"/>
            <a:ext cx="3931920" cy="4023360"/>
          </a:xfrm>
          <a:prstGeom prst="roundRect">
            <a:avLst>
              <a:gd name="adj" fmla="val 1860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Scope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046720" y="2514600"/>
            <a:ext cx="914400" cy="457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46720" y="2788920"/>
            <a:ext cx="33832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6E4F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0" y="28620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229600" y="31729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administration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046720" y="354787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046720" y="3749040"/>
            <a:ext cx="33832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6E4F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29600" y="38221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Subcity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229600" y="41330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Mid-level coordination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046720" y="450799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046720" y="4709160"/>
            <a:ext cx="33832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6E4F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29600" y="47823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Woreda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8229600" y="50932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Ground-level operations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56" name="Text 53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 eService System — Completed Modules &amp; End-to-End Workflow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10058400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  <p:sp>
        <p:nvSpPr>
          <p:cNvPr id="58" name="Shape 55">
            <a:hlinkClick r:id="rId3" tooltip="Open localhost:3000"/>
          </p:cNvPr>
          <p:cNvSpPr/>
          <p:nvPr/>
        </p:nvSpPr>
        <p:spPr>
          <a:xfrm>
            <a:off x="10058400" y="617220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9" name="Text 56">
            <a:hlinkClick r:id="rId3" tooltip="Open localhost:3000"/>
          </p:cNvPr>
          <p:cNvSpPr/>
          <p:nvPr/>
        </p:nvSpPr>
        <p:spPr>
          <a:xfrm>
            <a:off x="10058400" y="6172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localhost:3000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Open Dashboard ›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88952" cy="457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  •  eService System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0" y="45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City Administration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MODULE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Module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0607040" y="114300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0" y="11430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110642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users by role and scope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Admin can create active users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Subcity / Woreda Admin-created officers are inactive by default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request workflow built in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update after login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 after login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image upload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cannot disable or delete themselves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list hides the logged-in user and Super Admin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list ordered with row numbering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and permission-based sidebar visibility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 eService System — Completed Modules &amp; End-to-End Workflow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058400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  <p:sp>
        <p:nvSpPr>
          <p:cNvPr id="15" name="Shape 12">
            <a:hlinkClick r:id="rId3" tooltip="Open localhost:3000"/>
          </p:cNvPr>
          <p:cNvSpPr/>
          <p:nvPr/>
        </p:nvSpPr>
        <p:spPr>
          <a:xfrm>
            <a:off x="10058400" y="617220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6" name="Text 13">
            <a:hlinkClick r:id="rId3" tooltip="Open localhost:3000"/>
          </p:cNvPr>
          <p:cNvSpPr/>
          <p:nvPr/>
        </p:nvSpPr>
        <p:spPr>
          <a:xfrm>
            <a:off x="10058400" y="6172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localhost:3000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Open Dashboard ›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88952" cy="457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  •  eService System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0" y="45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City Administration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WORKFLOW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Activation Workflow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0607040" y="114300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0" y="11430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— Woreda-created officer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5303520" cy="548640"/>
          </a:xfrm>
          <a:prstGeom prst="roundRect">
            <a:avLst>
              <a:gd name="adj" fmla="val 8333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774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Woreda Admin creates officer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92608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5303520" cy="548640"/>
          </a:xfrm>
          <a:prstGeom prst="roundRect">
            <a:avLst>
              <a:gd name="adj" fmla="val 8333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5468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Subcity Admin verifies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5303520" cy="548640"/>
          </a:xfrm>
          <a:prstGeom prst="roundRect">
            <a:avLst>
              <a:gd name="adj" fmla="val 8333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319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Admin approves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48056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5303520" cy="548640"/>
          </a:xfrm>
          <a:prstGeom prst="roundRect">
            <a:avLst>
              <a:gd name="adj" fmla="val 8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7091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activated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— Subcity-created officer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09360" y="2377440"/>
            <a:ext cx="5303520" cy="548640"/>
          </a:xfrm>
          <a:prstGeom prst="roundRect">
            <a:avLst>
              <a:gd name="adj" fmla="val 8333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3774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Subcity Admin creates officer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292608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09360" y="3154680"/>
            <a:ext cx="5303520" cy="548640"/>
          </a:xfrm>
          <a:prstGeom prst="roundRect">
            <a:avLst>
              <a:gd name="adj" fmla="val 8333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15468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Admin approves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9360" y="370332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309360" y="3931920"/>
            <a:ext cx="5303520" cy="548640"/>
          </a:xfrm>
          <a:prstGeom prst="roundRect">
            <a:avLst>
              <a:gd name="adj" fmla="val 8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39319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activated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09360" y="4846320"/>
            <a:ext cx="5303520" cy="1280160"/>
          </a:xfrm>
          <a:prstGeom prst="roundRect">
            <a:avLst>
              <a:gd name="adj" fmla="val 3571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4892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supported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46520" y="51663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verify by Subcity Admin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approve by City Admin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/ history tracking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 eService System — Completed Modules &amp; End-to-End Workflow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0058400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  <p:sp>
        <p:nvSpPr>
          <p:cNvPr id="38" name="Shape 35">
            <a:hlinkClick r:id="rId3" tooltip="Open localhost:3000"/>
          </p:cNvPr>
          <p:cNvSpPr/>
          <p:nvPr/>
        </p:nvSpPr>
        <p:spPr>
          <a:xfrm>
            <a:off x="10058400" y="617220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9" name="Text 36">
            <a:hlinkClick r:id="rId3" tooltip="Open localhost:3000"/>
          </p:cNvPr>
          <p:cNvSpPr/>
          <p:nvPr/>
        </p:nvSpPr>
        <p:spPr>
          <a:xfrm>
            <a:off x="10058400" y="6172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localhost:3000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Open Dashboard ›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88952" cy="457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  •  eService System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0" y="45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City Administration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MODULE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Management Module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0607040" y="114300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0" y="11430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110642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update, and delete services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fee configuration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/ Inactive status control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Back Officer flag per service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level: City, Subcity, or Woreda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filtering and search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list without assigned-window clutter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validation and pagination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 eService System — Completed Modules &amp; End-to-End Workflow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058400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  <p:sp>
        <p:nvSpPr>
          <p:cNvPr id="15" name="Shape 12">
            <a:hlinkClick r:id="rId3" tooltip="Open localhost:3000"/>
          </p:cNvPr>
          <p:cNvSpPr/>
          <p:nvPr/>
        </p:nvSpPr>
        <p:spPr>
          <a:xfrm>
            <a:off x="10058400" y="617220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6" name="Text 13">
            <a:hlinkClick r:id="rId3" tooltip="Open localhost:3000"/>
          </p:cNvPr>
          <p:cNvSpPr/>
          <p:nvPr/>
        </p:nvSpPr>
        <p:spPr>
          <a:xfrm>
            <a:off x="10058400" y="6172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localhost:3000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Open Dashboard ›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88952" cy="457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  •  eService System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0" y="45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City Administration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WORKFLOW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Form Builder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0607040" y="114300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0" y="11430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11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2402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creates service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54680" y="22402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37560" y="192024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2011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0" y="22402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builds dynamic form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0" y="22402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6480" y="192024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2011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22402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Sections, steps, fields &amp; conditions saved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32520" y="22402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915400" y="192024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06840" y="2011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052560" y="22402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opens the service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38328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474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" y="37033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renders dynamic form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154680" y="37033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337560" y="338328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3474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474720" y="37033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submits application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0" y="37033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126480" y="338328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3474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263640" y="37033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&amp; files stored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5029200"/>
            <a:ext cx="11064240" cy="1280160"/>
          </a:xfrm>
          <a:prstGeom prst="roundRect">
            <a:avLst>
              <a:gd name="adj" fmla="val 3571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5074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31520" y="544068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5440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sections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880360" y="544068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80360" y="5440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forms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029200" y="544068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0" y="5440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fields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178040" y="544068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78040" y="5440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326880" y="544068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326880" y="5440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data storage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50" name="Text 47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 eService System — Completed Modules &amp; End-to-End Workflow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10058400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  <p:sp>
        <p:nvSpPr>
          <p:cNvPr id="52" name="Shape 49">
            <a:hlinkClick r:id="rId3" tooltip="Open localhost:3000"/>
          </p:cNvPr>
          <p:cNvSpPr/>
          <p:nvPr/>
        </p:nvSpPr>
        <p:spPr>
          <a:xfrm>
            <a:off x="10058400" y="617220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3" name="Text 50">
            <a:hlinkClick r:id="rId3" tooltip="Open localhost:3000"/>
          </p:cNvPr>
          <p:cNvSpPr/>
          <p:nvPr/>
        </p:nvSpPr>
        <p:spPr>
          <a:xfrm>
            <a:off x="10058400" y="6172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localhost:3000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Open Dashboard ›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88952" cy="457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  •  eService System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0" y="45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City Administration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MODULE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Management Module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0607040" y="114300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0" y="11430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110642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Window Name across levels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titles per level: City / Subcity / Woreda Window Title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level checkbox selection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Window 1: Land Services / Business Registration / Resident Identification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popup modal shows all window title information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Admin manages all windows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Subcity / Woreda Admin scoped to their area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list simplified and easy to navigate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 eService System — Completed Modules &amp; End-to-End Workflow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058400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  <p:sp>
        <p:nvSpPr>
          <p:cNvPr id="15" name="Shape 12">
            <a:hlinkClick r:id="rId3" tooltip="Open localhost:3000"/>
          </p:cNvPr>
          <p:cNvSpPr/>
          <p:nvPr/>
        </p:nvSpPr>
        <p:spPr>
          <a:xfrm>
            <a:off x="10058400" y="617220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6" name="Text 13">
            <a:hlinkClick r:id="rId3" tooltip="Open localhost:3000"/>
          </p:cNvPr>
          <p:cNvSpPr/>
          <p:nvPr/>
        </p:nvSpPr>
        <p:spPr>
          <a:xfrm>
            <a:off x="10058400" y="6172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localhost:3000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Open Dashboard ›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88952" cy="457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  •  eService System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0" y="45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City Administration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ASSIGNMENT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Window Assignment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0607040" y="114300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0" y="11430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3611880" cy="1280160"/>
          </a:xfrm>
          <a:prstGeom prst="roundRect">
            <a:avLst>
              <a:gd name="adj" fmla="val 5714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0116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Assignment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24688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↔ City Window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1920240"/>
            <a:ext cx="3611880" cy="1280160"/>
          </a:xfrm>
          <a:prstGeom prst="roundRect">
            <a:avLst>
              <a:gd name="adj" fmla="val 5714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20116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Subcity Assignment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6280" y="24688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↔ Subcity Window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1920240"/>
            <a:ext cx="3611880" cy="1280160"/>
          </a:xfrm>
          <a:prstGeom prst="roundRect">
            <a:avLst>
              <a:gd name="adj" fmla="val 5714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0116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Woreda Assignment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1040" y="24688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↔ Woreda Window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474720"/>
            <a:ext cx="11064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and drop services into windows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service removed from available list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level matching enforced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services between same-level windows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Collapsible window cards &amp; mobile responsive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title displayed everywhere it appears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22" name="Text 19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 eService System — Completed Modules &amp; End-to-End Workflow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058400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  <p:sp>
        <p:nvSpPr>
          <p:cNvPr id="24" name="Shape 21">
            <a:hlinkClick r:id="rId3" tooltip="Open localhost:3000"/>
          </p:cNvPr>
          <p:cNvSpPr/>
          <p:nvPr/>
        </p:nvSpPr>
        <p:spPr>
          <a:xfrm>
            <a:off x="10058400" y="617220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5" name="Text 22">
            <a:hlinkClick r:id="rId3" tooltip="Open localhost:3000"/>
          </p:cNvPr>
          <p:cNvSpPr/>
          <p:nvPr/>
        </p:nvSpPr>
        <p:spPr>
          <a:xfrm>
            <a:off x="10058400" y="6172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localhost:3000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Open Dashboard ›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88952" cy="457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  •  eService System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0" y="45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City Administration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ASSIGNMENT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Window Assignment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0607040" y="114300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0" y="11430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F4F8FC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920240"/>
            <a:ext cx="361188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0574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Window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2468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&amp; Back officers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43400" y="192024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F4F8FC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1920240"/>
            <a:ext cx="361188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20574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Subcity Window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26280" y="2468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&amp; Back officers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192024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F4F8FC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1920240"/>
            <a:ext cx="361188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0574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Woreda Window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21040" y="2468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&amp; Back officers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383280"/>
            <a:ext cx="11064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Front and Back officers to windows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subcity / woreda where needed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must match same level and scope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application sharing between officers and windows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title displayed in assignment UI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25" name="Text 2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 eService System — Completed Modules &amp; End-to-End Workflow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058400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  <p:sp>
        <p:nvSpPr>
          <p:cNvPr id="27" name="Shape 24">
            <a:hlinkClick r:id="rId3" tooltip="Open localhost:3000"/>
          </p:cNvPr>
          <p:cNvSpPr/>
          <p:nvPr/>
        </p:nvSpPr>
        <p:spPr>
          <a:xfrm>
            <a:off x="10058400" y="617220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8" name="Text 25">
            <a:hlinkClick r:id="rId3" tooltip="Open localhost:3000"/>
          </p:cNvPr>
          <p:cNvSpPr/>
          <p:nvPr/>
        </p:nvSpPr>
        <p:spPr>
          <a:xfrm>
            <a:off x="10058400" y="6172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localhost:3000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Open Dashboard ›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88952" cy="457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  •  eService System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0" y="45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City Administration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ASSIGNMENT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Service Assignment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0607040" y="114300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0" y="11430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110642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officers to services as Front Officer or Back Officer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/ Subcity / Woreda assignment modes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&amp; services must belong to the same level, scope, and window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with Back Officer enabled → requires back officer assignment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without Back Officer → uses front officer only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supports workflow routing rules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 eService System — Completed Modules &amp; End-to-End Workflow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058400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  <p:sp>
        <p:nvSpPr>
          <p:cNvPr id="15" name="Shape 12">
            <a:hlinkClick r:id="rId3" tooltip="Open localhost:3000"/>
          </p:cNvPr>
          <p:cNvSpPr/>
          <p:nvPr/>
        </p:nvSpPr>
        <p:spPr>
          <a:xfrm>
            <a:off x="10058400" y="617220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6" name="Text 13">
            <a:hlinkClick r:id="rId3" tooltip="Open localhost:3000"/>
          </p:cNvPr>
          <p:cNvSpPr/>
          <p:nvPr/>
        </p:nvSpPr>
        <p:spPr>
          <a:xfrm>
            <a:off x="10058400" y="6172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localhost:3000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Open Dashboard ›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88952" cy="457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  •  eService System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0" y="45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City Administration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CITIZEN EXPERIENCE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Service Portal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0607040" y="114300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0" y="11430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68580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service listing by level: City / Subcity / Woreda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selection by City, Subcity, and Woreda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cards with window / category sidebar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title displayed publicly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detail page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must login or register before applying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dashboard, My Applications, and tracking by number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80960" y="1920240"/>
            <a:ext cx="3931920" cy="4114800"/>
          </a:xfrm>
          <a:prstGeom prst="roundRect">
            <a:avLst>
              <a:gd name="adj" fmla="val 1395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0" y="1920240"/>
            <a:ext cx="3931920" cy="365760"/>
          </a:xfrm>
          <a:prstGeom prst="rect">
            <a:avLst/>
          </a:prstGeom>
          <a:solidFill>
            <a:srgbClr val="E1ECF7"/>
          </a:solidFill>
          <a:ln w="12700">
            <a:solidFill>
              <a:srgbClr val="E1EC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18120" y="201168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201168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201168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0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adamamesob.gov.et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86384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Services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863840" y="2880360"/>
            <a:ext cx="3566160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6E4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0100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Services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0100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online ›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863840" y="3794760"/>
            <a:ext cx="3566160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6E4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01000" y="3840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Registration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01000" y="4160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online ›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863840" y="4709160"/>
            <a:ext cx="3566160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6E4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01000" y="4754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ID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01000" y="5074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online ›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29" name="Text 26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 eService System — Completed Modules &amp; End-to-End Workflow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058400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  <p:sp>
        <p:nvSpPr>
          <p:cNvPr id="31" name="Shape 28">
            <a:hlinkClick r:id="rId3" tooltip="Open localhost:3000"/>
          </p:cNvPr>
          <p:cNvSpPr/>
          <p:nvPr/>
        </p:nvSpPr>
        <p:spPr>
          <a:xfrm>
            <a:off x="10058400" y="617220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2" name="Text 29">
            <a:hlinkClick r:id="rId3" tooltip="Open localhost:3000"/>
          </p:cNvPr>
          <p:cNvSpPr/>
          <p:nvPr/>
        </p:nvSpPr>
        <p:spPr>
          <a:xfrm>
            <a:off x="10058400" y="6172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localhost:3000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Open Dashboard ›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88952" cy="457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  •  eService System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0" y="45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City Administration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— WORKFLOW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Submission Workflow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0607040" y="114300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0" y="11430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71600" y="1920240"/>
            <a:ext cx="9144000" cy="457200"/>
          </a:xfrm>
          <a:prstGeom prst="roundRect">
            <a:avLst>
              <a:gd name="adj" fmla="val 1000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19202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selects level / location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71600" y="2487168"/>
            <a:ext cx="9144000" cy="457200"/>
          </a:xfrm>
          <a:prstGeom prst="roundRect">
            <a:avLst>
              <a:gd name="adj" fmla="val 1000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487168"/>
            <a:ext cx="457200" cy="45720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487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248716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selects service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371600" y="3054096"/>
            <a:ext cx="9144000" cy="457200"/>
          </a:xfrm>
          <a:prstGeom prst="roundRect">
            <a:avLst>
              <a:gd name="adj" fmla="val 1000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054096"/>
            <a:ext cx="457200" cy="45720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054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54480" y="3054096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form loads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371600" y="3621024"/>
            <a:ext cx="9144000" cy="457200"/>
          </a:xfrm>
          <a:prstGeom prst="roundRect">
            <a:avLst>
              <a:gd name="adj" fmla="val 1000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621024"/>
            <a:ext cx="457200" cy="45720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621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54480" y="3621024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fills data &amp; uploads files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371600" y="4187952"/>
            <a:ext cx="9144000" cy="457200"/>
          </a:xfrm>
          <a:prstGeom prst="roundRect">
            <a:avLst>
              <a:gd name="adj" fmla="val 1000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187952"/>
            <a:ext cx="457200" cy="45720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554480" y="4187952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submitted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371600" y="4754880"/>
            <a:ext cx="9144000" cy="457200"/>
          </a:xfrm>
          <a:prstGeom prst="roundRect">
            <a:avLst>
              <a:gd name="adj" fmla="val 1000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4754880"/>
            <a:ext cx="457200" cy="45720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554480" y="475488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number generated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371600" y="5321808"/>
            <a:ext cx="9144000" cy="45720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5321808"/>
            <a:ext cx="457200" cy="45720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321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554480" y="532180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routed to assigned Front Officer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40" name="Text 37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 eService System — Completed Modules &amp; End-to-End Workflow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058400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  <p:sp>
        <p:nvSpPr>
          <p:cNvPr id="42" name="Shape 39">
            <a:hlinkClick r:id="rId3" tooltip="Open localhost:3000"/>
          </p:cNvPr>
          <p:cNvSpPr/>
          <p:nvPr/>
        </p:nvSpPr>
        <p:spPr>
          <a:xfrm>
            <a:off x="10058400" y="617220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3" name="Text 40">
            <a:hlinkClick r:id="rId3" tooltip="Open localhost:3000"/>
          </p:cNvPr>
          <p:cNvSpPr/>
          <p:nvPr/>
        </p:nvSpPr>
        <p:spPr>
          <a:xfrm>
            <a:off x="10058400" y="6172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localhost:3000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Open Dashboard ›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88952" cy="457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  •  eService System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0" y="45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City Administration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— OFFICER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Officer Workflow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0607040" y="114300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0" y="11430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5532120" cy="3474720"/>
          </a:xfrm>
          <a:prstGeom prst="roundRect">
            <a:avLst>
              <a:gd name="adj" fmla="val 2105"/>
            </a:avLst>
          </a:prstGeom>
          <a:solidFill>
            <a:srgbClr val="F4F8FC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920240"/>
            <a:ext cx="553212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920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service has NO Back Officer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468880"/>
            <a:ext cx="52120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&amp; Complete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&amp; Return for Correction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with another Front Officer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1920240"/>
            <a:ext cx="5532120" cy="3474720"/>
          </a:xfrm>
          <a:prstGeom prst="roundRect">
            <a:avLst>
              <a:gd name="adj" fmla="val 2105"/>
            </a:avLst>
          </a:prstGeom>
          <a:solidFill>
            <a:srgbClr val="F4F8F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920240"/>
            <a:ext cx="5532120" cy="45720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920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service has a Back Officer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2468880"/>
            <a:ext cx="52120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&amp; Forward to Back Officer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&amp; Return for Correction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with another Front Officer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57784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5778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flow shows windows first, then officers under selected window. Workflow files saved per application. Queue counts, alerts, filters by queue / status / search.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22" name="Text 19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 eService System — Completed Modules &amp; End-to-End Workflow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058400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  <p:sp>
        <p:nvSpPr>
          <p:cNvPr id="24" name="Shape 21">
            <a:hlinkClick r:id="rId3" tooltip="Open localhost:3000"/>
          </p:cNvPr>
          <p:cNvSpPr/>
          <p:nvPr/>
        </p:nvSpPr>
        <p:spPr>
          <a:xfrm>
            <a:off x="10058400" y="617220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5" name="Text 22">
            <a:hlinkClick r:id="rId3" tooltip="Open localhost:3000"/>
          </p:cNvPr>
          <p:cNvSpPr/>
          <p:nvPr/>
        </p:nvSpPr>
        <p:spPr>
          <a:xfrm>
            <a:off x="10058400" y="6172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localhost:3000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Open Dashboard ›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88952" cy="457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  •  eService System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0" y="45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City Administration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— OFFICER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Officer Workflow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0607040" y="114300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0" y="11430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11064240" cy="640080"/>
          </a:xfrm>
          <a:prstGeom prst="roundRect">
            <a:avLst>
              <a:gd name="adj" fmla="val 7143"/>
            </a:avLst>
          </a:prstGeom>
          <a:solidFill>
            <a:srgbClr val="F4F8FC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9202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Officer receives only forwarded / shared applications — never newly submitted ones.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346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5800" y="33832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Front Officer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37560" y="27432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28346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474720" y="33832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Front Officer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27432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28346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63640" y="33832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another Back Officer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15400" y="27432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15400" y="28346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052560" y="33832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Manager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572000"/>
            <a:ext cx="11064240" cy="1645920"/>
          </a:xfrm>
          <a:prstGeom prst="roundRect">
            <a:avLst>
              <a:gd name="adj" fmla="val 2778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663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notes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49377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officer workflow API used by both front and back officers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officer queue excludes newly submitted applications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actions write a full audit record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29" name="Text 26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 eService System — Completed Modules &amp; End-to-End Workflow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058400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  <p:sp>
        <p:nvSpPr>
          <p:cNvPr id="31" name="Shape 28">
            <a:hlinkClick r:id="rId3" tooltip="Open localhost:3000"/>
          </p:cNvPr>
          <p:cNvSpPr/>
          <p:nvPr/>
        </p:nvSpPr>
        <p:spPr>
          <a:xfrm>
            <a:off x="10058400" y="617220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2" name="Text 29">
            <a:hlinkClick r:id="rId3" tooltip="Open localhost:3000"/>
          </p:cNvPr>
          <p:cNvSpPr/>
          <p:nvPr/>
        </p:nvSpPr>
        <p:spPr>
          <a:xfrm>
            <a:off x="10058400" y="6172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localhost:3000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Open Dashboard ›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88952" cy="457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  •  eService System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0" y="45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City Administration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— WORKFLOW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Sharing Workflow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0607040" y="114300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0" y="11430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5943600" cy="411480"/>
          </a:xfrm>
          <a:prstGeom prst="roundRect">
            <a:avLst>
              <a:gd name="adj" fmla="val 8889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92024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Officer selects Share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5943600" cy="411480"/>
          </a:xfrm>
          <a:prstGeom prst="roundRect">
            <a:avLst>
              <a:gd name="adj" fmla="val 8889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42316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System shows windows at same level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943600" cy="411480"/>
          </a:xfrm>
          <a:prstGeom prst="roundRect">
            <a:avLst>
              <a:gd name="adj" fmla="val 8889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92608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Officer selects window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5943600" cy="411480"/>
          </a:xfrm>
          <a:prstGeom prst="roundRect">
            <a:avLst>
              <a:gd name="adj" fmla="val 8889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42900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System shows officers in that window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5943600" cy="411480"/>
          </a:xfrm>
          <a:prstGeom prst="roundRect">
            <a:avLst>
              <a:gd name="adj" fmla="val 8889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9319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Officer selects officer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5943600" cy="411480"/>
          </a:xfrm>
          <a:prstGeom prst="roundRect">
            <a:avLst>
              <a:gd name="adj" fmla="val 8889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3484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Application transferred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937760"/>
            <a:ext cx="5943600" cy="411480"/>
          </a:xfrm>
          <a:prstGeom prst="roundRect">
            <a:avLst>
              <a:gd name="adj" fmla="val 8889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93776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Share history saved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66560" y="1920240"/>
            <a:ext cx="4846320" cy="4206240"/>
          </a:xfrm>
          <a:prstGeom prst="roundRect">
            <a:avLst>
              <a:gd name="adj" fmla="val 1739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Share Record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949440" y="2423160"/>
            <a:ext cx="914400" cy="457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2606040"/>
            <a:ext cx="44805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from officer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to officer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window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window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files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0" name="Text 27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 eService System — Completed Modules &amp; End-to-End Workflow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058400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  <p:sp>
        <p:nvSpPr>
          <p:cNvPr id="32" name="Shape 29">
            <a:hlinkClick r:id="rId3" tooltip="Open localhost:3000"/>
          </p:cNvPr>
          <p:cNvSpPr/>
          <p:nvPr/>
        </p:nvSpPr>
        <p:spPr>
          <a:xfrm>
            <a:off x="10058400" y="617220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3" name="Text 30">
            <a:hlinkClick r:id="rId3" tooltip="Open localhost:3000"/>
          </p:cNvPr>
          <p:cNvSpPr/>
          <p:nvPr/>
        </p:nvSpPr>
        <p:spPr>
          <a:xfrm>
            <a:off x="10058400" y="6172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localhost:3000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Open Dashboard ›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88952" cy="457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  •  eService System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0" y="45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City Administration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— SYSTEM OVERVIEW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0607040" y="114300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0" y="11430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2011680" cy="640080"/>
          </a:xfrm>
          <a:prstGeom prst="roundRect">
            <a:avLst>
              <a:gd name="adj" fmla="val 7143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116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0" y="2011680"/>
            <a:ext cx="2377440" cy="640080"/>
          </a:xfrm>
          <a:prstGeom prst="roundRect">
            <a:avLst>
              <a:gd name="adj" fmla="val 7143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20116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Service Selection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0" y="2011680"/>
            <a:ext cx="2377440" cy="640080"/>
          </a:xfrm>
          <a:prstGeom prst="roundRect">
            <a:avLst>
              <a:gd name="adj" fmla="val 7143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20116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Form Submission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63840" y="2011680"/>
            <a:ext cx="2377440" cy="640080"/>
          </a:xfrm>
          <a:prstGeom prst="roundRect">
            <a:avLst>
              <a:gd name="adj" fmla="val 714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20116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Officer Queue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424160" y="2011680"/>
            <a:ext cx="1463040" cy="640080"/>
          </a:xfrm>
          <a:prstGeom prst="roundRect">
            <a:avLst>
              <a:gd name="adj" fmla="val 714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0" y="20116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200400"/>
            <a:ext cx="4572000" cy="640080"/>
          </a:xfrm>
          <a:prstGeom prst="roundRect">
            <a:avLst>
              <a:gd name="adj" fmla="val 714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2004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 Officer → Complete / Return / Share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94960" y="3200400"/>
            <a:ext cx="3931920" cy="640080"/>
          </a:xfrm>
          <a:prstGeom prst="roundRect">
            <a:avLst>
              <a:gd name="adj" fmla="val 7143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0" y="32004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Officer required → Forward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601200" y="3200400"/>
            <a:ext cx="2286000" cy="640080"/>
          </a:xfrm>
          <a:prstGeom prst="roundRect">
            <a:avLst>
              <a:gd name="adj" fmla="val 714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0" y="3200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Officer Review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206240"/>
            <a:ext cx="3931920" cy="640080"/>
          </a:xfrm>
          <a:prstGeom prst="roundRect">
            <a:avLst>
              <a:gd name="adj" fmla="val 714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062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notified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4206240"/>
            <a:ext cx="3657600" cy="640080"/>
          </a:xfrm>
          <a:prstGeom prst="roundRect">
            <a:avLst>
              <a:gd name="adj" fmla="val 7143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4206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/ Share / Escalate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503920" y="4206240"/>
            <a:ext cx="3383280" cy="640080"/>
          </a:xfrm>
          <a:prstGeom prst="roundRect">
            <a:avLst>
              <a:gd name="adj" fmla="val 714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0" y="42062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to Front Officer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0" y="5212080"/>
            <a:ext cx="5760720" cy="731520"/>
          </a:xfrm>
          <a:prstGeom prst="roundRect">
            <a:avLst>
              <a:gd name="adj" fmla="val 625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0" y="521208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tracks application status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560320" y="201168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02352" y="201168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644384" y="201168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186416" y="201168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40" name="Text 37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 eService System — Completed Modules &amp; End-to-End Workflow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058400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  <p:sp>
        <p:nvSpPr>
          <p:cNvPr id="42" name="Shape 39">
            <a:hlinkClick r:id="rId3" tooltip="Open localhost:3000"/>
          </p:cNvPr>
          <p:cNvSpPr/>
          <p:nvPr/>
        </p:nvSpPr>
        <p:spPr>
          <a:xfrm>
            <a:off x="10058400" y="617220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3" name="Text 40">
            <a:hlinkClick r:id="rId3" tooltip="Open localhost:3000"/>
          </p:cNvPr>
          <p:cNvSpPr/>
          <p:nvPr/>
        </p:nvSpPr>
        <p:spPr>
          <a:xfrm>
            <a:off x="10058400" y="6172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localhost:3000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Open Dashboard ›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88952" cy="457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  •  eService System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0" y="45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City Administration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— SECURITY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&amp; Scope Enforcement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0607040" y="114300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0" y="11430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110642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adapts dynamically by role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protected by granular permissions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/ Subcity / Woreda data filtering enforced server-side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see applications only within their level, scope, window, and service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manage only their allowed scope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retains access to global configuration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 eService System — Completed Modules &amp; End-to-End Workflow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058400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  <p:sp>
        <p:nvSpPr>
          <p:cNvPr id="15" name="Shape 12">
            <a:hlinkClick r:id="rId3" tooltip="Open localhost:3000"/>
          </p:cNvPr>
          <p:cNvSpPr/>
          <p:nvPr/>
        </p:nvSpPr>
        <p:spPr>
          <a:xfrm>
            <a:off x="10058400" y="617220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6" name="Text 13">
            <a:hlinkClick r:id="rId3" tooltip="Open localhost:3000"/>
          </p:cNvPr>
          <p:cNvSpPr/>
          <p:nvPr/>
        </p:nvSpPr>
        <p:spPr>
          <a:xfrm>
            <a:off x="10058400" y="6172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localhost:3000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Open Dashboard ›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88952" cy="457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  •  eService System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0" y="45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City Administration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—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Tracking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0607040" y="114300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0" y="11430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3611880" cy="1554480"/>
          </a:xfrm>
          <a:prstGeom prst="roundRect">
            <a:avLst>
              <a:gd name="adj" fmla="val 3529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920240"/>
            <a:ext cx="91440" cy="1554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103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activation history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26060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created, verified, approved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43400" y="1920240"/>
            <a:ext cx="3611880" cy="1554480"/>
          </a:xfrm>
          <a:prstGeom prst="roundRect">
            <a:avLst>
              <a:gd name="adj" fmla="val 3529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1920240"/>
            <a:ext cx="91440" cy="1554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2103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workflow history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26060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 change captured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1920240"/>
            <a:ext cx="3611880" cy="1554480"/>
          </a:xfrm>
          <a:prstGeom prst="roundRect">
            <a:avLst>
              <a:gd name="adj" fmla="val 3529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1920240"/>
            <a:ext cx="91440" cy="1554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2103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sharing history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66760" y="26060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transfer chain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749040"/>
            <a:ext cx="3611880" cy="1554480"/>
          </a:xfrm>
          <a:prstGeom prst="roundRect">
            <a:avLst>
              <a:gd name="adj" fmla="val 3529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749040"/>
            <a:ext cx="91440" cy="1554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9319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transitions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4348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transition timestamped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43400" y="3749040"/>
            <a:ext cx="3611880" cy="1554480"/>
          </a:xfrm>
          <a:prstGeom prst="roundRect">
            <a:avLst>
              <a:gd name="adj" fmla="val 3529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43400" y="3749040"/>
            <a:ext cx="91440" cy="1554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39319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documents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0" y="44348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record &amp; actor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38160" y="3749040"/>
            <a:ext cx="3611880" cy="1554480"/>
          </a:xfrm>
          <a:prstGeom prst="roundRect">
            <a:avLst>
              <a:gd name="adj" fmla="val 3529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8160" y="3749040"/>
            <a:ext cx="91440" cy="1554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66760" y="39319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tracking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66760" y="44348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attribution per action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 eService System — Completed Modules &amp; End-to-End Workflow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0058400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  <p:sp>
        <p:nvSpPr>
          <p:cNvPr id="38" name="Shape 35">
            <a:hlinkClick r:id="rId3" tooltip="Open localhost:3000"/>
          </p:cNvPr>
          <p:cNvSpPr/>
          <p:nvPr/>
        </p:nvSpPr>
        <p:spPr>
          <a:xfrm>
            <a:off x="10058400" y="617220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9" name="Text 36">
            <a:hlinkClick r:id="rId3" tooltip="Open localhost:3000"/>
          </p:cNvPr>
          <p:cNvSpPr/>
          <p:nvPr/>
        </p:nvSpPr>
        <p:spPr>
          <a:xfrm>
            <a:off x="10058400" y="6172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localhost:3000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Open Dashboard ›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88952" cy="457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  •  eService System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0" y="45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City Administration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— STATUS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Completion Summary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2715768" cy="9144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19456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05740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01568" y="1920240"/>
            <a:ext cx="2715768" cy="9144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38728" y="219456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38728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95928" y="205740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Workflow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54496" y="1920240"/>
            <a:ext cx="2715768" cy="9144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91656" y="219456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91656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48856" y="205740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Management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07424" y="1920240"/>
            <a:ext cx="2715768" cy="9144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44584" y="219456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44584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701784" y="205740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Builder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2971800"/>
            <a:ext cx="2715768" cy="9144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324612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3000" y="310896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Management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401568" y="2971800"/>
            <a:ext cx="2715768" cy="9144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38728" y="324612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38728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995928" y="310896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Window Assignment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54496" y="2971800"/>
            <a:ext cx="2715768" cy="9144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91656" y="324612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91656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48856" y="310896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Window Assignment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107424" y="2971800"/>
            <a:ext cx="2715768" cy="9144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44584" y="324612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44584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701784" y="310896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Service Assignment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4023360"/>
            <a:ext cx="2715768" cy="9144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5800" y="429768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143000" y="416052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Service Listing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401568" y="4023360"/>
            <a:ext cx="2715768" cy="9144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38728" y="429768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38728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3995928" y="416052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Application Submission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254496" y="4023360"/>
            <a:ext cx="2715768" cy="9144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91656" y="429768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91656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848856" y="416052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Tracking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107424" y="4023360"/>
            <a:ext cx="2715768" cy="9144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244584" y="429768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44584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9701784" y="416052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Workflow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48640" y="5074920"/>
            <a:ext cx="2715768" cy="9144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5800" y="534924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5800" y="5349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1143000" y="521208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Officer Workflow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3401568" y="5074920"/>
            <a:ext cx="2715768" cy="9144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538728" y="534924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538728" y="5349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3995928" y="521208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Workflow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6254496" y="5074920"/>
            <a:ext cx="2715768" cy="9144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391656" y="534924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91656" y="5349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6848856" y="521208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Sidebar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9107424" y="5074920"/>
            <a:ext cx="2715768" cy="9144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244584" y="534924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244584" y="5349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9701784" y="521208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Title Integration</a:t>
            </a:r>
            <a:endParaRPr lang="en-US" sz="1200" dirty="0"/>
          </a:p>
        </p:txBody>
      </p:sp>
      <p:sp>
        <p:nvSpPr>
          <p:cNvPr id="73" name="Shape 7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74" name="Text 71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 eService System — Completed Modules &amp; End-to-End Workflow</a:t>
            </a:r>
            <a:endParaRPr lang="en-US" sz="900" dirty="0"/>
          </a:p>
        </p:txBody>
      </p:sp>
      <p:sp>
        <p:nvSpPr>
          <p:cNvPr id="75" name="Text 72"/>
          <p:cNvSpPr/>
          <p:nvPr/>
        </p:nvSpPr>
        <p:spPr>
          <a:xfrm>
            <a:off x="10058400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  <p:sp>
        <p:nvSpPr>
          <p:cNvPr id="76" name="Shape 73">
            <a:hlinkClick r:id="rId3" tooltip="Open localhost:3000"/>
          </p:cNvPr>
          <p:cNvSpPr/>
          <p:nvPr/>
        </p:nvSpPr>
        <p:spPr>
          <a:xfrm>
            <a:off x="10058400" y="617220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7" name="Text 74">
            <a:hlinkClick r:id="rId3" tooltip="Open localhost:3000"/>
          </p:cNvPr>
          <p:cNvSpPr/>
          <p:nvPr/>
        </p:nvSpPr>
        <p:spPr>
          <a:xfrm>
            <a:off x="10058400" y="6172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localhost:3000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Open Dashboard ›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88952" cy="457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  •  eService System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0" y="45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City Administration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— IMPACT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Value Delivered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2715768" cy="1920240"/>
          </a:xfrm>
          <a:prstGeom prst="roundRect">
            <a:avLst>
              <a:gd name="adj" fmla="val 381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19072" y="2103120"/>
            <a:ext cx="411480" cy="41148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19072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6060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Service Delivery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1089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served quicker, queues reduced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01568" y="1920240"/>
            <a:ext cx="2715768" cy="1920240"/>
          </a:xfrm>
          <a:prstGeom prst="roundRect">
            <a:avLst>
              <a:gd name="adj" fmla="val 381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2103120"/>
            <a:ext cx="411480" cy="41148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38728" y="26060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Accountability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84448" y="31089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attributed to an officer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54496" y="1920240"/>
            <a:ext cx="2715768" cy="1920240"/>
          </a:xfrm>
          <a:prstGeom prst="roundRect">
            <a:avLst>
              <a:gd name="adj" fmla="val 381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24928" y="2103120"/>
            <a:ext cx="411480" cy="41148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24928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91656" y="26060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Location-based Administration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37376" y="31089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/ Subcity / Woreda governance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07424" y="1920240"/>
            <a:ext cx="2715768" cy="1920240"/>
          </a:xfrm>
          <a:prstGeom prst="roundRect">
            <a:avLst>
              <a:gd name="adj" fmla="val 381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77856" y="2103120"/>
            <a:ext cx="411480" cy="41148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77856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44584" y="26060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Application Tracking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90304" y="31089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stay informed in real-time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023360"/>
            <a:ext cx="2715768" cy="1920240"/>
          </a:xfrm>
          <a:prstGeom prst="roundRect">
            <a:avLst>
              <a:gd name="adj" fmla="val 381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19072" y="4206240"/>
            <a:ext cx="411480" cy="41148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19072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5800" y="47091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Paperwork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1520" y="52120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and files captured digitally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01568" y="4023360"/>
            <a:ext cx="2715768" cy="1920240"/>
          </a:xfrm>
          <a:prstGeom prst="roundRect">
            <a:avLst>
              <a:gd name="adj" fmla="val 381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4206240"/>
            <a:ext cx="411480" cy="41148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538728" y="47091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Workload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584448" y="52120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load visible and routable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54496" y="4023360"/>
            <a:ext cx="2715768" cy="1920240"/>
          </a:xfrm>
          <a:prstGeom prst="roundRect">
            <a:avLst>
              <a:gd name="adj" fmla="val 381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24928" y="4206240"/>
            <a:ext cx="411480" cy="41148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24928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91656" y="47091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History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437376" y="52120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workflow audit trail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107424" y="4023360"/>
            <a:ext cx="2715768" cy="1920240"/>
          </a:xfrm>
          <a:prstGeom prst="roundRect">
            <a:avLst>
              <a:gd name="adj" fmla="val 381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277856" y="4206240"/>
            <a:ext cx="411480" cy="41148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277856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244584" y="47091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Reports-ready Data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290304" y="52120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dashboards &amp; analytics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50" name="Text 47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 eService System — Completed Modules &amp; End-to-End Workflow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10058400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  <p:sp>
        <p:nvSpPr>
          <p:cNvPr id="52" name="Shape 49">
            <a:hlinkClick r:id="rId3" tooltip="Open localhost:3000"/>
          </p:cNvPr>
          <p:cNvSpPr/>
          <p:nvPr/>
        </p:nvSpPr>
        <p:spPr>
          <a:xfrm>
            <a:off x="10058400" y="617220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3" name="Text 50">
            <a:hlinkClick r:id="rId3" tooltip="Open localhost:3000"/>
          </p:cNvPr>
          <p:cNvSpPr/>
          <p:nvPr/>
        </p:nvSpPr>
        <p:spPr>
          <a:xfrm>
            <a:off x="10058400" y="6172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localhost:3000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Open Dashboard ›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8229600" cy="82296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657600"/>
            <a:ext cx="7315200" cy="7315200"/>
          </a:xfrm>
          <a:prstGeom prst="ellipse">
            <a:avLst/>
          </a:prstGeom>
          <a:solidFill>
            <a:srgbClr val="0A1E36"/>
          </a:solidFill>
          <a:ln w="12700">
            <a:solidFill>
              <a:srgbClr val="0A1E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377440"/>
            <a:ext cx="137160" cy="14630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500" dirty="0">
                <a:solidFill>
                  <a:srgbClr val="8F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MESOB eService System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final testing, reporting dashboard,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production deployment.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5486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C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City Administration</a:t>
            </a:r>
            <a:endParaRPr lang="en-US" sz="1400" dirty="0"/>
          </a:p>
        </p:txBody>
      </p:sp>
      <p:sp>
        <p:nvSpPr>
          <p:cNvPr id="9" name="Shape 7">
            <a:hlinkClick r:id="rId3"/>
          </p:cNvPr>
          <p:cNvSpPr/>
          <p:nvPr/>
        </p:nvSpPr>
        <p:spPr>
          <a:xfrm>
            <a:off x="9509760" y="594360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0" name="Text 8">
            <a:hlinkClick r:id="rId3"/>
          </p:cNvPr>
          <p:cNvSpPr/>
          <p:nvPr/>
        </p:nvSpPr>
        <p:spPr>
          <a:xfrm>
            <a:off x="9509760" y="5943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Open Dashboard ›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2237</Words>
  <Application>Microsoft Office PowerPoint</Application>
  <PresentationFormat>Custom</PresentationFormat>
  <Paragraphs>512</Paragraphs>
  <Slides>22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ADAMA MESOB eService System</dc:title>
  <dc:subject>PptxGenJS Presentation</dc:subject>
  <dc:creator>PptxGenJS</dc:creator>
  <cp:lastModifiedBy>User</cp:lastModifiedBy>
  <cp:revision>2</cp:revision>
  <dcterms:created xsi:type="dcterms:W3CDTF">2026-05-19T08:28:23Z</dcterms:created>
  <dcterms:modified xsi:type="dcterms:W3CDTF">2026-05-19T10:45:40Z</dcterms:modified>
</cp:coreProperties>
</file>